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($)</c:v>
                </c:pt>
              </c:strCache>
            </c:strRef>
          </c:tx>
          <c:spPr>
            <a:solidFill>
              <a:srgbClr val="7C6E8A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2A26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Aug</c:v>
                  </c:pt>
                  <c:pt idx="4">
                    <c:v>Sep</c:v>
                  </c:pt>
                  <c:pt idx="5">
                    <c:v>Oct</c:v>
                  </c:pt>
                  <c:pt idx="6">
                    <c:v>Nov</c:v>
                  </c:pt>
                  <c:pt idx="7">
                    <c:v>Dec</c:v>
                  </c:pt>
                  <c:pt idx="8">
                    <c:v>Jan</c:v>
                  </c:pt>
                  <c:pt idx="9">
                    <c:v>Feb</c:v>
                  </c:pt>
                  <c:pt idx="10">
                    <c:v>Mar</c:v>
                  </c:pt>
                  <c:pt idx="11">
                    <c:v>Apr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120</c:v>
                </c:pt>
                <c:pt idx="1">
                  <c:v>390</c:v>
                </c:pt>
                <c:pt idx="2">
                  <c:v>720</c:v>
                </c:pt>
                <c:pt idx="3">
                  <c:v>1100</c:v>
                </c:pt>
                <c:pt idx="4">
                  <c:v>1650</c:v>
                </c:pt>
                <c:pt idx="5">
                  <c:v>2300</c:v>
                </c:pt>
                <c:pt idx="6">
                  <c:v>2800</c:v>
                </c:pt>
                <c:pt idx="7">
                  <c:v>3500</c:v>
                </c:pt>
                <c:pt idx="8">
                  <c:v>4200</c:v>
                </c:pt>
                <c:pt idx="9">
                  <c:v>5100</c:v>
                </c:pt>
                <c:pt idx="10">
                  <c:v>6200</c:v>
                </c:pt>
                <c:pt idx="11">
                  <c:v>7800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00" u="none">
                  <a:solidFill>
                    <a:srgbClr val="2A26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371600"/>
            <a:ext cx="4114800" cy="4114800"/>
          </a:xfrm>
          <a:prstGeom prst="ellipse">
            <a:avLst/>
          </a:prstGeom>
          <a:solidFill>
            <a:srgbClr val="7C6E8A">
              <a:alpha val="18000"/>
            </a:srgbClr>
          </a:solidFill>
          <a:ln w="12700">
            <a:solidFill>
              <a:srgbClr val="7C6E8A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C4BAD4">
              <a:alpha val="12000"/>
            </a:srgbClr>
          </a:solidFill>
          <a:ln w="12700">
            <a:solidFill>
              <a:srgbClr val="C4BAD4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731520" y="3200400"/>
            <a:ext cx="2560320" cy="2560320"/>
          </a:xfrm>
          <a:prstGeom prst="ellipse">
            <a:avLst/>
          </a:prstGeom>
          <a:solidFill>
            <a:srgbClr val="9B8DAB">
              <a:alpha val="15000"/>
            </a:srgbClr>
          </a:solidFill>
          <a:ln w="12700">
            <a:solidFill>
              <a:srgbClr val="9B8DAB">
                <a:alpha val="1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CHECK-IN  ·  APRIL 11,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Verse for You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502920" y="2880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· Demand · Profit Strategy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1645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Claude · Verse for You Build Session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F45"/>
          </a:solidFill>
          <a:ln w="12700">
            <a:solidFill>
              <a:srgbClr val="2C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AT A GLANCE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for You · April 11, 2026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051560"/>
            <a:ext cx="20299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51560"/>
            <a:ext cx="2029968" cy="64008"/>
          </a:xfrm>
          <a:prstGeom prst="rect">
            <a:avLst/>
          </a:prstGeom>
          <a:solidFill>
            <a:srgbClr val="7C6E8A"/>
          </a:solidFill>
          <a:ln w="12700">
            <a:solidFill>
              <a:srgbClr val="7C6E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" y="118872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C6E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201168" y="22860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1168" y="297180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· Search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· Settings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32304" y="1051560"/>
            <a:ext cx="20299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32304" y="1051560"/>
            <a:ext cx="2029968" cy="64008"/>
          </a:xfrm>
          <a:prstGeom prst="rect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18872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7A9B7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2432304" y="22860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432304" y="297180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 · ESV · KJV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NLT · MSG + more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20299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2029968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118872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7+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663440" y="22860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297180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Verses · Prayer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Donate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94576" y="1051560"/>
            <a:ext cx="2029968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94576" y="1051560"/>
            <a:ext cx="2029968" cy="64008"/>
          </a:xfrm>
          <a:prstGeom prst="rect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94576" y="1188720"/>
            <a:ext cx="20299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9B8D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6894576" y="228600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94576" y="2971800"/>
            <a:ext cx="202996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· Android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C1F45"/>
          </a:solidFill>
          <a:ln w="12700">
            <a:solidFill>
              <a:srgbClr val="2C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65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WHAT’S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completion status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April 11 check-in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194560" cy="1920240"/>
          </a:xfrm>
          <a:prstGeom prst="ellipse">
            <a:avLst/>
          </a:prstGeom>
          <a:solidFill>
            <a:srgbClr val="7C6E8A">
              <a:alpha val="40000"/>
            </a:srgbClr>
          </a:solidFill>
          <a:ln w="25400">
            <a:solidFill>
              <a:srgbClr val="C4BA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83464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0" y="228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0" y="658368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43400" y="62179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verse lookup by emotion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114800" y="960120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3400" y="92354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of the Day (daily, cached)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14800" y="1261872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43400" y="122529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prayer generation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14800" y="1563624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152704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Bible translation options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114800" y="1865376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18288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verses to Journal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114800" y="2167128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21305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verses &amp; prayers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114800" y="2468880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43400" y="243230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/ topic search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14800" y="2770632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43400" y="273405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detail + reflection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14800" y="3072384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43400" y="3035808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&amp; light mode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0" y="3374136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33375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Haptic feedback (iOS/Android)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14800" y="3675888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43400" y="363931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donation flow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14800" y="3977640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43400" y="3941064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&amp; security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114800" y="4279392"/>
            <a:ext cx="137160" cy="13716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4242816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caching (cost savings)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114800" y="4617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B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COMING NEXT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F45"/>
          </a:solidFill>
          <a:ln w="12700">
            <a:solidFill>
              <a:srgbClr val="2C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LAYER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protects you and your 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" y="10972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097280"/>
            <a:ext cx="64008" cy="16916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280160"/>
            <a:ext cx="502920" cy="20116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618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50976" y="1234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576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req/min (AI)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req/min (Prayer)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Per-IP tracking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0972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72968" y="1097280"/>
            <a:ext cx="64008" cy="1691640"/>
          </a:xfrm>
          <a:prstGeom prst="rect">
            <a:avLst/>
          </a:prstGeom>
          <a:solidFill>
            <a:srgbClr val="7C6E8A"/>
          </a:solidFill>
          <a:ln w="12700">
            <a:solidFill>
              <a:srgbClr val="7C6E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1280160"/>
            <a:ext cx="502920" cy="201168"/>
          </a:xfrm>
          <a:prstGeom prst="rect">
            <a:avLst/>
          </a:prstGeom>
          <a:solidFill>
            <a:srgbClr val="7C6E8A"/>
          </a:solidFill>
          <a:ln w="12700">
            <a:solidFill>
              <a:srgbClr val="7C6E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2618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SANITIZE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922776" y="1234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3756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Trims &amp; caps all inputs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oversized strings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prompt injection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44768" y="109728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44768" y="1097280"/>
            <a:ext cx="64008" cy="1691640"/>
          </a:xfrm>
          <a:prstGeom prst="rect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1280160"/>
            <a:ext cx="502920" cy="201168"/>
          </a:xfrm>
          <a:prstGeom prst="rect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2618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894576" y="12344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Protection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30936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your app domains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call the backend.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others blocked.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" y="29718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2971800"/>
            <a:ext cx="64008" cy="1691640"/>
          </a:xfrm>
          <a:prstGeom prst="rect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154680"/>
            <a:ext cx="502920" cy="201168"/>
          </a:xfrm>
          <a:prstGeom prst="rect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136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50976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Caching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365760" y="3474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 of Day: 24 hrs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Verses: 60 min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Cuts AI costs significantly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172968" y="29718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72968" y="2971800"/>
            <a:ext cx="64008" cy="1691640"/>
          </a:xfrm>
          <a:prstGeom prst="rect">
            <a:avLst/>
          </a:prstGeom>
          <a:solidFill>
            <a:srgbClr val="C17B7B"/>
          </a:solidFill>
          <a:ln w="12700">
            <a:solidFill>
              <a:srgbClr val="C17B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37560" y="3154680"/>
            <a:ext cx="502920" cy="201168"/>
          </a:xfrm>
          <a:prstGeom prst="rect">
            <a:avLst/>
          </a:prstGeom>
          <a:solidFill>
            <a:srgbClr val="C17B7B"/>
          </a:solidFill>
          <a:ln w="12700">
            <a:solidFill>
              <a:srgbClr val="C17B7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37560" y="3136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922776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Payments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3337560" y="3474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card data touches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server ever.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PCI-compliant checkout.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44768" y="2971800"/>
            <a:ext cx="2788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2971800"/>
            <a:ext cx="64008" cy="1691640"/>
          </a:xfrm>
          <a:prstGeom prst="rect">
            <a:avLst/>
          </a:prstGeom>
          <a:solidFill>
            <a:srgbClr val="6B6478"/>
          </a:solidFill>
          <a:ln w="12700">
            <a:solidFill>
              <a:srgbClr val="6B647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09360" y="3154680"/>
            <a:ext cx="502920" cy="201168"/>
          </a:xfrm>
          <a:prstGeom prst="rect">
            <a:avLst/>
          </a:prstGeom>
          <a:solidFill>
            <a:srgbClr val="6B6478"/>
          </a:solidFill>
          <a:ln w="12700">
            <a:solidFill>
              <a:srgbClr val="6B647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31363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894576" y="31089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Error Handling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309360" y="347472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Crashes return clean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— no code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paths exposed.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7C6E8A">
              <a:alpha val="18000"/>
            </a:srgbClr>
          </a:solidFill>
          <a:ln w="12700">
            <a:solidFill>
              <a:srgbClr val="7C6E8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9B8DAB">
              <a:alpha val="15000"/>
            </a:srgbClr>
          </a:solidFill>
          <a:ln w="12700">
            <a:solidFill>
              <a:srgbClr val="9B8DA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faith-based app market is massive — and underserved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06040" cy="2286000"/>
          </a:xfrm>
          <a:prstGeom prst="rect">
            <a:avLst/>
          </a:prstGeom>
          <a:solidFill>
            <a:srgbClr val="7C6E8A">
              <a:alpha val="20000"/>
            </a:srgbClr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$7B+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65760" y="25603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Faith-based app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globally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14% YoY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06040" cy="2286000"/>
          </a:xfrm>
          <a:prstGeom prst="rect">
            <a:avLst/>
          </a:prstGeom>
          <a:solidFill>
            <a:srgbClr val="7C6E8A">
              <a:alpha val="20000"/>
            </a:srgbClr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508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600M+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3291840" y="25603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YouVersion Bible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installs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proven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417320"/>
            <a:ext cx="2606040" cy="2286000"/>
          </a:xfrm>
          <a:prstGeom prst="rect">
            <a:avLst/>
          </a:prstGeom>
          <a:solidFill>
            <a:srgbClr val="7C6E8A">
              <a:alpha val="20000"/>
            </a:srgbClr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50876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63%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17920" y="25603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Americans identify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Christian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32918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US base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86200"/>
            <a:ext cx="8412480" cy="822960"/>
          </a:xfrm>
          <a:prstGeom prst="rect">
            <a:avLst/>
          </a:prstGeom>
          <a:solidFill>
            <a:srgbClr val="7C6E8A">
              <a:alpha val="30000"/>
            </a:srgbClr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8862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—  Verse for You sits at the intersection of AI + faith, a combination no major app has fully captured yet.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F45"/>
          </a:solidFill>
          <a:ln w="12700">
            <a:solidFill>
              <a:srgbClr val="2C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AUDIENCE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0690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069080" cy="64008"/>
          </a:xfrm>
          <a:prstGeom prst="rect">
            <a:avLst/>
          </a:prstGeom>
          <a:solidFill>
            <a:srgbClr val="7C6E8A"/>
          </a:solidFill>
          <a:ln w="12700">
            <a:solidFill>
              <a:srgbClr val="7C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612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Devotional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188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C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25–55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4650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already have a Bible or devotional habit. They want a faster, more personal way to find relevant Scripture in the moment.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segment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1051560"/>
            <a:ext cx="40690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051560"/>
            <a:ext cx="406908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16128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Anxious /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Stressed Adults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60920" y="1188720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18–45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746504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dealing with anxiety, grief, or burnout who turn to faith for comfort. They search for "Bible verses for anxiety" every day.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892040" y="2560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intent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044952"/>
            <a:ext cx="40690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44952"/>
            <a:ext cx="4069080" cy="64008"/>
          </a:xfrm>
          <a:prstGeom prst="rect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154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Youth &amp;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 Z Believers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1821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16–28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73989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Christians who live on their phones. They want spiritual content that feels modern, not like a church bulletin.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4553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3044952"/>
            <a:ext cx="406908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09160" y="3044952"/>
            <a:ext cx="4069080" cy="64008"/>
          </a:xfrm>
          <a:prstGeom prst="rect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15468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Church Leaders</a:t>
            </a:r>
            <a:endParaRPr lang="en-US" sz="1400" dirty="0"/>
          </a:p>
          <a:p>
            <a:pPr algn="l" indent="0" marL="0">
              <a:buNone/>
            </a:pPr>
            <a:r>
              <a:rPr lang="en-US" sz="1400" b="1" dirty="0">
                <a:solidFill>
                  <a:srgbClr val="2A26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Small Groups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360920" y="3182112"/>
            <a:ext cx="1234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B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739896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Pastors, Sunday school teachers, and small group leaders who need relevant verses fast. High share &amp; repeat usage.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892040" y="45537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B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potential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F45"/>
          </a:solidFill>
          <a:ln w="12700">
            <a:solidFill>
              <a:srgbClr val="2C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REACH THEM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47472" y="1051560"/>
            <a:ext cx="263347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051560"/>
            <a:ext cx="64008" cy="1773936"/>
          </a:xfrm>
          <a:prstGeom prst="rect">
            <a:avLst/>
          </a:prstGeom>
          <a:solidFill>
            <a:srgbClr val="7C6E8A"/>
          </a:solidFill>
          <a:ln w="12700">
            <a:solidFill>
              <a:srgbClr val="7C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99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Content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64792"/>
            <a:ext cx="23957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high-intent keywords: "Bible verse for anxiety," "Scripture for grief." Build a simple blog with top emotion + verse combos. This drives organic installs for free.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3347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51560"/>
            <a:ext cx="64008" cy="17739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55848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55848" y="1399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&amp; Reels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764792"/>
            <a:ext cx="23957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videos: "Type your feeling in the app." Faith content performs exceptionally on TikTok — low competition, high virality. One good video can drive thousands of installs.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53328" y="1051560"/>
            <a:ext cx="263347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53328" y="1051560"/>
            <a:ext cx="64008" cy="1773936"/>
          </a:xfrm>
          <a:prstGeom prst="rect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08776" y="11430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208776" y="13990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Partnerships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08776" y="1764792"/>
            <a:ext cx="23957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10 local churches to feature the app in their bulletins or newsletters. Churches are trusted distribution channels with warm audiences.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2990088"/>
            <a:ext cx="263347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990088"/>
            <a:ext cx="64008" cy="1773936"/>
          </a:xfrm>
          <a:prstGeom prst="rect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0815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9B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3337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 ASO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3703320"/>
            <a:ext cx="23957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for "Bible verses," "daily devotional," and "Christian app" keywords. Reviews and ratings are the #1 driver of organic discovery in the App Store.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0" y="2990088"/>
            <a:ext cx="263347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990088"/>
            <a:ext cx="64008" cy="1773936"/>
          </a:xfrm>
          <a:prstGeom prst="rect">
            <a:avLst/>
          </a:prstGeom>
          <a:solidFill>
            <a:srgbClr val="C17B7B"/>
          </a:solidFill>
          <a:ln w="12700">
            <a:solidFill>
              <a:srgbClr val="C17B7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55848" y="30815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1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55848" y="3337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 Influencers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3703320"/>
            <a:ext cx="23957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Christian YouTubers or Instagram accounts (100K–1M followers). A single genuine endorsement from a trusted faith voice can be worth thousands of paid ads.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53328" y="2990088"/>
            <a:ext cx="2633472" cy="17739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53328" y="2990088"/>
            <a:ext cx="64008" cy="1773936"/>
          </a:xfrm>
          <a:prstGeom prst="rect">
            <a:avLst/>
          </a:prstGeom>
          <a:solidFill>
            <a:srgbClr val="6B6478"/>
          </a:solidFill>
          <a:ln w="12700">
            <a:solidFill>
              <a:srgbClr val="6B647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08776" y="3081528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08776" y="3337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Devotional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08776" y="3703320"/>
            <a:ext cx="239572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optional email list. Send a daily verse + prayer. This creates retention, word-of-mouth, and a direct channel for premium upsells.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Multiple revenue streams, built for growth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01168" y="1325880"/>
            <a:ext cx="2011680" cy="3429000"/>
          </a:xfrm>
          <a:prstGeom prst="rect">
            <a:avLst/>
          </a:prstGeom>
          <a:solidFill>
            <a:srgbClr val="7C6E8A">
              <a:alpha val="2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1325880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" y="1389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Subscription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01168" y="1901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$4.99/mo · $39.99/yr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2240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verse searches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670048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1208" y="26243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054096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30083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journal features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438144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39242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Exclusive translations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822192"/>
            <a:ext cx="91440" cy="914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7764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Ad-free forever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92608" y="4297680"/>
            <a:ext cx="1828800" cy="347472"/>
          </a:xfrm>
          <a:prstGeom prst="rect">
            <a:avLst/>
          </a:prstGeom>
          <a:solidFill>
            <a:srgbClr val="C9A84C">
              <a:alpha val="50000"/>
            </a:srgbClr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revenue driver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414016" y="1325880"/>
            <a:ext cx="2011680" cy="3429000"/>
          </a:xfrm>
          <a:prstGeom prst="rect">
            <a:avLst/>
          </a:prstGeom>
          <a:solidFill>
            <a:srgbClr val="7C6E8A">
              <a:alpha val="20000"/>
            </a:srgbClr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14016" y="1325880"/>
            <a:ext cx="2011680" cy="54864"/>
          </a:xfrm>
          <a:prstGeom prst="rect">
            <a:avLst/>
          </a:prstGeom>
          <a:solidFill>
            <a:srgbClr val="C4BAD4"/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14016" y="1389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 Model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414016" y="1901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base · Paid unlock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78608" y="2286000"/>
            <a:ext cx="91440" cy="91440"/>
          </a:xfrm>
          <a:prstGeom prst="ellipse">
            <a:avLst/>
          </a:prstGeom>
          <a:solidFill>
            <a:srgbClr val="C4BAD4"/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34056" y="2240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free searches/day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78608" y="2670048"/>
            <a:ext cx="91440" cy="91440"/>
          </a:xfrm>
          <a:prstGeom prst="ellipse">
            <a:avLst/>
          </a:prstGeom>
          <a:solidFill>
            <a:srgbClr val="C4BAD4"/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34056" y="26243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removes limit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78608" y="3054096"/>
            <a:ext cx="91440" cy="91440"/>
          </a:xfrm>
          <a:prstGeom prst="ellipse">
            <a:avLst/>
          </a:prstGeom>
          <a:solidFill>
            <a:srgbClr val="C4BAD4"/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34056" y="30083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barrier to try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578608" y="3438144"/>
            <a:ext cx="91440" cy="91440"/>
          </a:xfrm>
          <a:prstGeom prst="ellipse">
            <a:avLst/>
          </a:prstGeom>
          <a:solidFill>
            <a:srgbClr val="C4BAD4"/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34056" y="339242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conversion when habit forms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78608" y="3822192"/>
            <a:ext cx="91440" cy="91440"/>
          </a:xfrm>
          <a:prstGeom prst="ellipse">
            <a:avLst/>
          </a:prstGeom>
          <a:solidFill>
            <a:srgbClr val="C4BAD4"/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34056" y="37764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installs fast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505456" y="4297680"/>
            <a:ext cx="1828800" cy="347472"/>
          </a:xfrm>
          <a:prstGeom prst="rect">
            <a:avLst/>
          </a:prstGeom>
          <a:solidFill>
            <a:srgbClr val="C4BAD4">
              <a:alpha val="50000"/>
            </a:srgbClr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05456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engine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26864" y="1325880"/>
            <a:ext cx="2011680" cy="3429000"/>
          </a:xfrm>
          <a:prstGeom prst="rect">
            <a:avLst/>
          </a:prstGeom>
          <a:solidFill>
            <a:srgbClr val="7C6E8A">
              <a:alpha val="20000"/>
            </a:srgbClr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626864" y="1325880"/>
            <a:ext cx="2011680" cy="54864"/>
          </a:xfrm>
          <a:prstGeom prst="rect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26864" y="1389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/ Group Licenses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4626864" y="1901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$29.99/mo per church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91456" y="2286000"/>
            <a:ext cx="91440" cy="9144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6904" y="2240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accounts for members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91456" y="2670048"/>
            <a:ext cx="91440" cy="9144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46904" y="26243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 dashboard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91456" y="3054096"/>
            <a:ext cx="91440" cy="9144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46904" y="30083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branding option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91456" y="3438144"/>
            <a:ext cx="91440" cy="9144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339242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B2B revenue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91456" y="3822192"/>
            <a:ext cx="91440" cy="9144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46904" y="37764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retention &amp; loyalty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18304" y="4297680"/>
            <a:ext cx="1828800" cy="347472"/>
          </a:xfrm>
          <a:prstGeom prst="rect">
            <a:avLst/>
          </a:prstGeom>
          <a:solidFill>
            <a:srgbClr val="7A9B76">
              <a:alpha val="50000"/>
            </a:srgbClr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18304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$ per account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839712" y="1325880"/>
            <a:ext cx="2011680" cy="3429000"/>
          </a:xfrm>
          <a:prstGeom prst="rect">
            <a:avLst/>
          </a:prstGeom>
          <a:solidFill>
            <a:srgbClr val="7C6E8A">
              <a:alpha val="20000"/>
            </a:srgbClr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39712" y="1325880"/>
            <a:ext cx="2011680" cy="54864"/>
          </a:xfrm>
          <a:prstGeom prst="rect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39712" y="138988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(Live)</a:t>
            </a:r>
            <a:endParaRPr lang="en-US" sz="1250" dirty="0"/>
          </a:p>
        </p:txBody>
      </p:sp>
      <p:sp>
        <p:nvSpPr>
          <p:cNvPr id="55" name="Text 53"/>
          <p:cNvSpPr/>
          <p:nvPr/>
        </p:nvSpPr>
        <p:spPr>
          <a:xfrm>
            <a:off x="6839712" y="190195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B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 · $10 · $25 · $50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004304" y="2286000"/>
            <a:ext cx="91440" cy="91440"/>
          </a:xfrm>
          <a:prstGeom prst="ellipse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59752" y="22402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with Stripe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004304" y="2670048"/>
            <a:ext cx="91440" cy="91440"/>
          </a:xfrm>
          <a:prstGeom prst="ellipse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59752" y="26243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gifts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7004304" y="3054096"/>
            <a:ext cx="91440" cy="91440"/>
          </a:xfrm>
          <a:prstGeom prst="ellipse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59752" y="300837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004304" y="3438144"/>
            <a:ext cx="91440" cy="91440"/>
          </a:xfrm>
          <a:prstGeom prst="ellipse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59752" y="339242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goodwill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04304" y="3822192"/>
            <a:ext cx="91440" cy="91440"/>
          </a:xfrm>
          <a:prstGeom prst="ellipse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159752" y="377647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strong at launch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931152" y="4297680"/>
            <a:ext cx="1828800" cy="347472"/>
          </a:xfrm>
          <a:prstGeom prst="rect">
            <a:avLst/>
          </a:prstGeom>
          <a:solidFill>
            <a:srgbClr val="9B8DAB">
              <a:alpha val="50000"/>
            </a:srgbClr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931152" y="42976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early revenue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F45"/>
          </a:solidFill>
          <a:ln w="12700">
            <a:solidFill>
              <a:srgbClr val="2C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PROJECTION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8869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scenario · 12 months post-launch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48640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80760" y="100584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EF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080760" y="1005840"/>
            <a:ext cx="28346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44768" y="10698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ASSUMPTIONS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144768" y="153619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date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635240" y="153619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9, 2026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144768" y="192938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users (mo 1)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635240" y="192938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144768" y="232257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conversion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635240" y="232257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144768" y="271576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 price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635240" y="2715768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$4.99/mo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44768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 licenses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35240" y="3108960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by mo 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44768" y="3502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avg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635240" y="350215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144768" y="389534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rate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7635240" y="3895344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~25%/mo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144768" y="428853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peak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635240" y="4288536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A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~$7,800/mo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1F45"/>
          </a:solidFill>
          <a:ln w="12700">
            <a:solidFill>
              <a:srgbClr val="2C1F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TIMELINE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8229600" cy="45720"/>
          </a:xfrm>
          <a:prstGeom prst="rect">
            <a:avLst/>
          </a:prstGeom>
          <a:solidFill>
            <a:srgbClr val="C4BAD4"/>
          </a:solidFill>
          <a:ln w="12700">
            <a:solidFill>
              <a:srgbClr val="C4BA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2724912"/>
            <a:ext cx="320040" cy="320040"/>
          </a:xfrm>
          <a:prstGeom prst="ellipse">
            <a:avLst/>
          </a:prstGeom>
          <a:solidFill>
            <a:srgbClr val="7C6E8A"/>
          </a:solidFill>
          <a:ln w="12700">
            <a:solidFill>
              <a:srgbClr val="7C6E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16002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C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0" y="31272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#1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Security Review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331720" y="2724912"/>
            <a:ext cx="320040" cy="320040"/>
          </a:xfrm>
          <a:prstGeom prst="ellipse">
            <a:avLst/>
          </a:prstGeom>
          <a:solidFill>
            <a:srgbClr val="9B8DAB"/>
          </a:solidFill>
          <a:ln w="12700">
            <a:solidFill>
              <a:srgbClr val="9B8D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16002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B8D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11–18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874520" y="31272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 Sprint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Bug Fixes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06240" y="2724912"/>
            <a:ext cx="320040" cy="32004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6002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18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49040" y="31272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Beta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 + testers)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724912"/>
            <a:ext cx="320040" cy="320040"/>
          </a:xfrm>
          <a:prstGeom prst="ellipse">
            <a:avLst/>
          </a:prstGeom>
          <a:solidFill>
            <a:srgbClr val="7A9B76"/>
          </a:solidFill>
          <a:ln w="12700">
            <a:solidFill>
              <a:srgbClr val="7A9B7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6002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9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23560" y="31272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818120" y="2724912"/>
            <a:ext cx="320040" cy="320040"/>
          </a:xfrm>
          <a:prstGeom prst="ellipse">
            <a:avLst/>
          </a:prstGeom>
          <a:solidFill>
            <a:srgbClr val="C17B7B"/>
          </a:solidFill>
          <a:ln w="12700">
            <a:solidFill>
              <a:srgbClr val="C17B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60920" y="16002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1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9  **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60920" y="31272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822960"/>
          </a:xfrm>
          <a:prstGeom prst="rect">
            <a:avLst/>
          </a:prstGeom>
          <a:solidFill>
            <a:srgbClr val="C17B7B">
              <a:alpha val="15000"/>
            </a:srgbClr>
          </a:solidFill>
          <a:ln w="12700">
            <a:solidFill>
              <a:srgbClr val="C17B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148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17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LAUNCH: May 9, 2026 — Saturday, when people are reflective and have time to explore new apps.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F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7C6E8A">
              <a:alpha val="18000"/>
            </a:srgbClr>
          </a:solidFill>
          <a:ln w="12700">
            <a:solidFill>
              <a:srgbClr val="7C6E8A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2926080"/>
            <a:ext cx="3200400" cy="3200400"/>
          </a:xfrm>
          <a:prstGeom prst="ellipse">
            <a:avLst/>
          </a:prstGeom>
          <a:solidFill>
            <a:srgbClr val="9B8DAB">
              <a:alpha val="15000"/>
            </a:srgbClr>
          </a:solidFill>
          <a:ln w="12700">
            <a:solidFill>
              <a:srgbClr val="9B8DA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Priorities for Apr 12 – Apr 18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344168"/>
            <a:ext cx="8229600" cy="493776"/>
          </a:xfrm>
          <a:prstGeom prst="rect">
            <a:avLst/>
          </a:prstGeom>
          <a:solidFill>
            <a:srgbClr val="7C6E8A">
              <a:alpha val="18000"/>
            </a:srgbClr>
          </a:solidFill>
          <a:ln w="12700">
            <a:solidFill>
              <a:srgbClr val="7C6E8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344168"/>
            <a:ext cx="640080" cy="493776"/>
          </a:xfrm>
          <a:prstGeom prst="rect">
            <a:avLst/>
          </a:prstGeom>
          <a:solidFill>
            <a:srgbClr val="C17B7B">
              <a:alpha val="80000"/>
            </a:srgbClr>
          </a:solidFill>
          <a:ln w="12700">
            <a:solidFill>
              <a:srgbClr val="C17B7B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4416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380744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Clerk Auth into Expo 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60934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 for all subscription work — no accounts = no trial tracking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901952"/>
            <a:ext cx="8229600" cy="493776"/>
          </a:xfrm>
          <a:prstGeom prst="rect">
            <a:avLst/>
          </a:prstGeom>
          <a:solidFill>
            <a:srgbClr val="7C6E8A">
              <a:alpha val="18000"/>
            </a:srgbClr>
          </a:solidFill>
          <a:ln w="12700">
            <a:solidFill>
              <a:srgbClr val="7C6E8A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901952"/>
            <a:ext cx="640080" cy="493776"/>
          </a:xfrm>
          <a:prstGeom prst="rect">
            <a:avLst/>
          </a:prstGeom>
          <a:solidFill>
            <a:srgbClr val="7C6E8A">
              <a:alpha val="80000"/>
            </a:srgbClr>
          </a:solidFill>
          <a:ln w="12700">
            <a:solidFill>
              <a:srgbClr val="7C6E8A">
                <a:alpha val="8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01952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97280" y="1938528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Stripe subscription product + 30-day trial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1671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$4.99/mo product, configure trial, test in Stripe sandbox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459736"/>
            <a:ext cx="8229600" cy="493776"/>
          </a:xfrm>
          <a:prstGeom prst="rect">
            <a:avLst/>
          </a:prstGeom>
          <a:solidFill>
            <a:srgbClr val="7C6E8A">
              <a:alpha val="18000"/>
            </a:srgbClr>
          </a:solidFill>
          <a:ln w="12700">
            <a:solidFill>
              <a:srgbClr val="7C6E8A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59736"/>
            <a:ext cx="640080" cy="493776"/>
          </a:xfrm>
          <a:prstGeom prst="rect">
            <a:avLst/>
          </a:prstGeom>
          <a:solidFill>
            <a:srgbClr val="7C6E8A">
              <a:alpha val="80000"/>
            </a:srgbClr>
          </a:solidFill>
          <a:ln w="12700">
            <a:solidFill>
              <a:srgbClr val="7C6E8A">
                <a:alpha val="8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59736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97280" y="2496312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Stripe webhook endpoint to server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2724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subscription events: created, payment failed, cancelled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017520"/>
            <a:ext cx="8229600" cy="493776"/>
          </a:xfrm>
          <a:prstGeom prst="rect">
            <a:avLst/>
          </a:prstGeom>
          <a:solidFill>
            <a:srgbClr val="7C6E8A">
              <a:alpha val="18000"/>
            </a:srgbClr>
          </a:solidFill>
          <a:ln w="12700">
            <a:solidFill>
              <a:srgbClr val="7C6E8A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017520"/>
            <a:ext cx="640080" cy="493776"/>
          </a:xfrm>
          <a:prstGeom prst="rect">
            <a:avLst/>
          </a:prstGeom>
          <a:solidFill>
            <a:srgbClr val="7A9B76">
              <a:alpha val="80000"/>
            </a:srgbClr>
          </a:solidFill>
          <a:ln w="12700">
            <a:solidFill>
              <a:srgbClr val="7A9B76">
                <a:alpha val="8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017520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97280" y="3054096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rate limiting to subscription status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3282696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Trial: unlimited  |  Expired: 3/day  |  Paid: unlimited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75304"/>
            <a:ext cx="8229600" cy="493776"/>
          </a:xfrm>
          <a:prstGeom prst="rect">
            <a:avLst/>
          </a:prstGeom>
          <a:solidFill>
            <a:srgbClr val="7C6E8A">
              <a:alpha val="18000"/>
            </a:srgbClr>
          </a:solidFill>
          <a:ln w="12700">
            <a:solidFill>
              <a:srgbClr val="7C6E8A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575304"/>
            <a:ext cx="640080" cy="493776"/>
          </a:xfrm>
          <a:prstGeom prst="rect">
            <a:avLst/>
          </a:prstGeom>
          <a:solidFill>
            <a:srgbClr val="7A9B76">
              <a:alpha val="80000"/>
            </a:srgbClr>
          </a:solidFill>
          <a:ln w="12700">
            <a:solidFill>
              <a:srgbClr val="7A9B76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75304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7280" y="3611880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trial countdown banner to Home screen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97280" y="384048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remaining days + upgrade prompt from day 25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133088"/>
            <a:ext cx="8229600" cy="493776"/>
          </a:xfrm>
          <a:prstGeom prst="rect">
            <a:avLst/>
          </a:prstGeom>
          <a:solidFill>
            <a:srgbClr val="7C6E8A">
              <a:alpha val="18000"/>
            </a:srgbClr>
          </a:solidFill>
          <a:ln w="12700">
            <a:solidFill>
              <a:srgbClr val="7C6E8A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4133088"/>
            <a:ext cx="640080" cy="493776"/>
          </a:xfrm>
          <a:prstGeom prst="rect">
            <a:avLst/>
          </a:prstGeom>
          <a:solidFill>
            <a:srgbClr val="C9A84C">
              <a:alpha val="80000"/>
            </a:srgbClr>
          </a:solidFill>
          <a:ln w="12700">
            <a:solidFill>
              <a:srgbClr val="C9A84C">
                <a:alpha val="8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133088"/>
            <a:ext cx="640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" y="4169664"/>
            <a:ext cx="7315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paywall upgrade screen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97280" y="4398264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4B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when limit is hit — pricing, features, Stripe checkout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C6E8A">
              <a:alpha val="50000"/>
            </a:srgbClr>
          </a:solidFill>
          <a:ln w="12700">
            <a:solidFill>
              <a:srgbClr val="7C6E8A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Check-In: Saturday, April 18  ·  10:00 AM 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Verse for You — Weekly Check-In</dc:title>
  <dc:subject>PptxGenJS Presentation</dc:subject>
  <dc:creator>Pedro Siqueira</dc:creator>
  <cp:lastModifiedBy>Pedro Siqueira</cp:lastModifiedBy>
  <cp:revision>1</cp:revision>
  <dcterms:created xsi:type="dcterms:W3CDTF">2026-04-11T15:21:44Z</dcterms:created>
  <dcterms:modified xsi:type="dcterms:W3CDTF">2026-04-11T15:21:44Z</dcterms:modified>
</cp:coreProperties>
</file>